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E2219"/>
          </a:solidFill>
          <a:ln w="1524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AMITY UNIVERSITY JHARKHAND • MAJOR PROJECT</a:t>
            </a:r>
          </a:p>
          <a:p>
            <a:pPr>
              <a:spcBef>
                <a:spcPts val="800"/>
              </a:spcBef>
              <a:defRPr sz="3600" b="1">
                <a:solidFill>
                  <a:srgbClr val="F8FAFC"/>
                </a:solidFill>
              </a:defRPr>
            </a:pPr>
            <a:r>
              <a:t>T20 World Cup Cricket Score Predictor</a:t>
            </a:r>
          </a:p>
          <a:p>
            <a:pPr>
              <a:spcBef>
                <a:spcPts val="600"/>
              </a:spcBef>
              <a:defRPr sz="1600">
                <a:solidFill>
                  <a:srgbClr val="00E676"/>
                </a:solidFill>
              </a:defRPr>
            </a:pPr>
            <a:r>
              <a:t>Design and Development of an Explainable Ball-by-Ball First-Innings Score Forecasting System</a:t>
            </a:r>
          </a:p>
          <a:p>
            <a:pPr>
              <a:spcBef>
                <a:spcPts val="1400"/>
              </a:spcBef>
              <a:defRPr sz="1000">
                <a:solidFill>
                  <a:srgbClr val="184834"/>
                </a:solidFill>
              </a:defRPr>
            </a:pPr>
            <a:r>
              <a:t>————————————————————————————————————————</a:t>
            </a:r>
          </a:p>
          <a:p>
            <a:pPr>
              <a:spcBef>
                <a:spcPts val="1000"/>
              </a:spcBef>
              <a:defRPr sz="1400" b="1">
                <a:solidFill>
                  <a:srgbClr val="F8FAFC"/>
                </a:solidFill>
              </a:defRPr>
            </a:pPr>
            <a:r>
              <a:t>Candidate: Md Arman Alam | Enrolment No: A357175125020 | B.Tech CSE (AI/ML)</a:t>
            </a:r>
          </a:p>
          <a:p>
            <a:pPr>
              <a:spcBef>
                <a:spcPts val="400"/>
              </a:spcBef>
              <a:defRPr sz="1300">
                <a:solidFill>
                  <a:srgbClr val="A7F3D0"/>
                </a:solidFill>
              </a:defRPr>
            </a:pPr>
            <a:r>
              <a:t>Project Supervisor: Miss Tanaya Ganguly | Amity School of Engineering &amp;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1: FOUNDATIONS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1. Problem Statement &amp; Research Motivation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</a:defRPr>
            </a:pPr>
            <a:r>
              <a:t>The Cricket Forecasting Challenge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High-Variance Dynamic: T20 compresses a match into 120 legal deliveries where match outcome changes on every ball.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Failure of Naive Extrapolation: Standard broadcast projections multiply Current Run Rate (CRR x 20). This assumes linear future scoring and completely ignores wickets in hand and death-overs surge.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Cluster Wicket Risk: Losing 2-3 quick wickets in middle overs causes sudden collapse, which linear formulas fail to anticipate.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Overconfidence in Point Estimates: Single-number forecasts give false certainty without communicating uncertainty bounds.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Our Proposed Approach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Conditional Ball-by-Ball Modeling: Continuous supervised prediction updated at every delivery checkpoint.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Dual Prediction Architecture: Side-by-side transparent CRR baseline with a documented opening prior vs trained ML regressor.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Conformal Uncertainty Intervals: Defensible 80% empirical prediction intervals that contract as remaining overs contract.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Leak-Resistant Validation: Match-level chronological splitting ensuring no delivery rows cross between train and test sets.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Explainable Inspection: Transparent feature attributions describing model behavior without causal speculation.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1 &amp; 5: SCOPE BOUNDARIES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2. Project Scope, Exclusions &amp; Data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E676"/>
                </a:solidFill>
              </a:defRPr>
            </a:pPr>
            <a:r>
              <a:t>Target Scope &amp; Data Strategy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Primary Target: Completed final score of an uninterrupted Men's T20 World Cup first innings scheduled for 20 overs.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Data Source: Cricsheet structured Men's T20 International ball-by-ball CSV2 archive (3,627 matches).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Sample Size Augmentation: Men's T20 World Cup tournament matches are held biennially (~250 historical matches). Broader Men's T20Is between major nations are utilized to train baseline dynamics.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Subgroup Verification: World Cup tournament matches are isolated and evaluated as an independent held-out subgroup.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Full Innings States: Evaluates ball 0 (opening prior 160.2 runs) to 120 balls / 10 wickets.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41814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Explicit Non-Goals &amp; Exclusions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✖ No Second-Innings Chase: Chase innings end early once the target is met, distorting natural run production. Strictly excluded in v1.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✖ No Win Probability: Win probability predicts binary match outcome, which has fundamentally different calibration targets.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✖ No Betting / Fantasy Advice: Responsible academic use prohibits commercial wagering advice or fantasy tips.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✖ No Automatic DLS: Rain-truncated matches (&lt;115 legal balls) alter resource horizons and are explicitly filtered out.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✖ No Super Overs: Super over shootouts are isolated events and excluded from 20-over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4 &amp; 5: METHODOLOGY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3. System Architecture &amp; Temporal Leakage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64592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</a:defRPr>
            </a:pPr>
            <a:r>
              <a:t>End-to-End System Pipeline (Report Figure 4.1)</a:t>
            </a:r>
          </a:p>
          <a:p>
            <a:pPr>
              <a:spcBef>
                <a:spcPts val="400"/>
              </a:spcBef>
              <a:defRPr sz="1200">
                <a:solidFill>
                  <a:srgbClr val="F8FAFC"/>
                </a:solidFill>
              </a:defRPr>
            </a:pPr>
            <a:r>
              <a:t>Raw Cricsheet Ball-by-Ball → Domain Parsing (Legal Balls &amp; Extras) → Chronological Match Split (2005–2024 Train / 2024–2026 Test) → Preprocessor Pipeline → Random Forest Regressor → Conformal Uncertainty Engine → Streamlit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120640" cy="29260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E676"/>
                </a:solidFill>
              </a:defRPr>
            </a:pPr>
            <a:r>
              <a:t>Model Input Features (At Ball B)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• Match Context: Batting Team, Bowling Team, Venue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• Current Innings State: Legal Balls Completed (0–120), Completed Overs (0.0–20.0), Current Runs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• Resource Depreciation: Wickets Lost (0–10)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• Momentum Window: Runs Scored in Last 5 Overs (30 legal balls)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• Scoring Velocity: Current Run Rate (with documented opening prior)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212080" cy="29260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3832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Temporal Leakage Audit (Table 5.1)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✔ Zero Future Visibility: No end-of-innings aggregates, player final scores, or post-match results enter the model.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✔ Delivery Reconciliation: Legal deliveries strictly distinguished from illegal deliveries (wides &amp; noballs).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✔ Extras Aggregation: Wides, noballs, byes, leg-byes, and penalties properly accumulated into score without inflating legal balls.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t>✔ Zero-Division Protection: At ball 0, CRR uses training mean prior (160.2 runs / 8.01 RPO) preventing runtime failures.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7: EVALUATION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4. Chronological Held-Out Evaluation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Replication of Report Table 7.1: Held-Out Test Evaluation</a:t>
            </a:r>
          </a:p>
          <a:p>
            <a:pPr>
              <a:spcBef>
                <a:spcPts val="300"/>
              </a:spcBef>
              <a:defRPr sz="1200">
                <a:solidFill>
                  <a:srgbClr val="A7F3D0"/>
                </a:solidFill>
              </a:defRPr>
            </a:pPr>
            <a:r>
              <a:t>Evaluated on 284 unseen matches (5,925 snapshots) chronologically held-out from 2024-09-28 to 2026-10-13: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Run-Rate Baseline (CRR + Prior): MAE = 22.97 runs | RMSE = 34.84 runs | Signed Bias = -9.15 runs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Ridge Linear Regression:        MAE = 17.98 runs | RMSE = 24.37 runs | Signed Bias = -4.94 runs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Random Forest Regressor (Best): MAE = 16.94 runs | RMSE = 24.50 runs | Signed Bias = -4.56 runs</a:t>
            </a:r>
          </a:p>
          <a:p>
            <a:pPr>
              <a:spcBef>
                <a:spcPts val="600"/>
              </a:spcBef>
              <a:defRPr sz="1300">
                <a:solidFill>
                  <a:srgbClr val="F8FAFC"/>
                </a:solidFill>
              </a:defRPr>
            </a:pPr>
            <a:r>
              <a:t>• Superiority: Random Forest reduces Mean Absolute Error by 6.03 runs over the run-rate extrapolation benchmark.</a:t>
            </a:r>
          </a:p>
          <a:p>
            <a:pPr>
              <a:spcBef>
                <a:spcPts val="1400"/>
              </a:spcBef>
              <a:defRPr sz="1500" b="1">
                <a:solidFill>
                  <a:srgbClr val="00E676"/>
                </a:solidFill>
              </a:defRPr>
            </a:pPr>
            <a:r>
              <a:t>Phase-Specific Error Analysis (Report Section 7.5):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  → Powerplay (Overs 0–6 / Balls 0–36):   RF MAE = 25.94 runs (vs Baseline 40.26 runs) [1,988 snapshots]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  → Middle Overs (Overs 6.1–15 / Balls 37–90): RF MAE = 15.74 runs (vs Baseline 18.43 runs) [2,553 snapshots]</a:t>
            </a:r>
          </a:p>
          <a:p>
            <a:pPr>
              <a:spcBef>
                <a:spcPts val="400"/>
              </a:spcBef>
              <a:defRPr sz="1250">
                <a:solidFill>
                  <a:srgbClr val="F8FAFC"/>
                </a:solidFill>
              </a:defRPr>
            </a:pPr>
            <a:r>
              <a:t>  → Death Overs (Overs 15.1–20 / Balls 91–120): RF MAE = 6.21 runs  (vs Baseline 6.52 runs)  [1,384 snapshots]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3 &amp; 5: UNCERTAINTY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5. Uncertainty Bounds &amp; Conformal Calibration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Why Point Forecasts are Insufficient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Single-number estimates hide risk: An innings projected at 170 could easily swing to 140 on a collapse or 205 on death-overs hitting.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MAE is NOT an Interval Guarantee: Calling +-MAE a 'confidence interval' is mathematically misleading (Report Requirement 4).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Conformal Quantile Method: We calibrated an 80% split-conformal residual bound on out-of-fold development errors.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Contracting Horizon (Figure 5.2): As balls remaining contract from 120 toward 0, uncertainty naturally converges to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Empirical Test Set Measurements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Nominal Target: 80.0% Prediction Interval.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Calibrated Half-Width (q80): 22.35 runs.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Measured Test Coverage: 73.7% on unseen held-out matches.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Average Interval Width: 42.9 runs.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Distribution Shift Demonstration: The empirical coverage of 73.7% vs nominal 80% directly verifies the report's theoretical prediction: recent T20 scoring rate inflation shifts distributions, illustrating genuine real-world ML behavior.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4 &amp; 6: APPLICATION PROTOTYPE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6. Streamlit Web Interface &amp; Live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676"/>
                </a:solidFill>
              </a:defRPr>
            </a:pPr>
            <a:r>
              <a:t>Dual Forecast Architecture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Side-by-Side Comparison: ML Model Estimate shown directly adjacent to the Transparent CRR Baseline.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Transparent Baseline Formula: Explains Runs + (CRR x Rem Overs) or documented opening prior (160.2 runs).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Dynamic Trajectory Graph: Matplotlib dark pitch visualization displaying current runs, ML projected path, CRR path, and shaded 80% interval band.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Quick Match Presets: Instant buttons for viva demos (Dominant Australia vs India, Death Overs Collapse, Opening State, Completed Innings).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Report Verification Tabs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Tab 1: Table 7.1 Results &amp; Phase Breakdown replicating exact report metrics.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Tab 2: Interactive Table 7.2 Functional Validation Suite (TC01 to TC06).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Tab 3: Full Architecture &amp; Temporal Leakage Audit table.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Tab 4: Ethics, Responsible Use Constraints &amp; Gap Checklist.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Responsive Theme: Tailored emerald dark aesthetic with clear typography and accessible input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7: VERIFICATION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7. Live Functional Test Suite (Report Table 7.2)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Automated Functional Validation Results (All 6 Test Cases Pass)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</a:defRPr>
            </a:pPr>
            <a:r>
              <a:t>✔ TC01 [Opening State]: Input: 0/0 in 0.0 overs (0 legal balls)</a:t>
            </a:r>
          </a:p>
          <a:p>
            <a:pPr>
              <a:spcBef>
                <a:spcPts val="100"/>
              </a:spcBef>
              <a:defRPr sz="1150">
                <a:solidFill>
                  <a:srgbClr val="F8FAFC"/>
                </a:solidFill>
              </a:defRPr>
            </a:pPr>
            <a:r>
              <a:t>   Result: Pass: Uses documented opening prior (160.2 runs / 8.01 RPO) without zero-division error.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</a:defRPr>
            </a:pPr>
            <a:r>
              <a:t>✔ TC02 [Completed Innings]: Input: 120 legal balls completed</a:t>
            </a:r>
          </a:p>
          <a:p>
            <a:pPr>
              <a:spcBef>
                <a:spcPts val="100"/>
              </a:spcBef>
              <a:defRPr sz="1150">
                <a:solidFill>
                  <a:srgbClr val="F8FAFC"/>
                </a:solidFill>
              </a:defRPr>
            </a:pPr>
            <a:r>
              <a:t>   Result: Pass: Accepted as completed innings; projection locks to current score (0 remaining balls).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</a:defRPr>
            </a:pPr>
            <a:r>
              <a:t>✔ TC03 [Over-Limit Deliveries]: Input: 121 legal balls in 20-over game</a:t>
            </a:r>
          </a:p>
          <a:p>
            <a:pPr>
              <a:spcBef>
                <a:spcPts val="100"/>
              </a:spcBef>
              <a:defRPr sz="1150">
                <a:solidFill>
                  <a:srgbClr val="F8FAFC"/>
                </a:solidFill>
              </a:defRPr>
            </a:pPr>
            <a:r>
              <a:t>   Result: Pass: Blocked by validation engine with explicit cricket boundary error.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</a:defRPr>
            </a:pPr>
            <a:r>
              <a:t>✔ TC04 [Over-Limit Dismissals]: Input: 11 wickets lost</a:t>
            </a:r>
          </a:p>
          <a:p>
            <a:pPr>
              <a:spcBef>
                <a:spcPts val="100"/>
              </a:spcBef>
              <a:defRPr sz="1150">
                <a:solidFill>
                  <a:srgbClr val="F8FAFC"/>
                </a:solidFill>
              </a:defRPr>
            </a:pPr>
            <a:r>
              <a:t>   Result: Pass: Blocked by validation engine with explicit maximum wickets error.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</a:defRPr>
            </a:pPr>
            <a:r>
              <a:t>✔ TC05 [Unseen Match Venue]: Input: Grand Prairie Stadium, Dallas</a:t>
            </a:r>
          </a:p>
          <a:p>
            <a:pPr>
              <a:spcBef>
                <a:spcPts val="100"/>
              </a:spcBef>
              <a:defRPr sz="1150">
                <a:solidFill>
                  <a:srgbClr val="F8FAFC"/>
                </a:solidFill>
              </a:defRPr>
            </a:pPr>
            <a:r>
              <a:t>   Result: Pass: Accepted with explicit informational warning; uses team base priors.</a:t>
            </a:r>
          </a:p>
          <a:p>
            <a:pPr>
              <a:spcBef>
                <a:spcPts val="800"/>
              </a:spcBef>
              <a:defRPr sz="1300" b="1">
                <a:solidFill>
                  <a:srgbClr val="00E676"/>
                </a:solidFill>
              </a:defRPr>
            </a:pPr>
            <a:r>
              <a:t>✔ TC06 [Deterministic Output]: Input: Repeat identical match state</a:t>
            </a:r>
          </a:p>
          <a:p>
            <a:pPr>
              <a:spcBef>
                <a:spcPts val="100"/>
              </a:spcBef>
              <a:defRPr sz="1150">
                <a:solidFill>
                  <a:srgbClr val="F8FAFC"/>
                </a:solidFill>
              </a:defRPr>
            </a:pPr>
            <a:r>
              <a:t>   Result: Pass: Bitwise identical predictions verified across multiple requests.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E676"/>
                </a:solidFill>
              </a:defRPr>
            </a:pPr>
            <a:r>
              <a:t>CHAPTER 8 &amp; 9: SUMMARY</a:t>
            </a:r>
          </a:p>
          <a:p>
            <a:pPr>
              <a:spcBef>
                <a:spcPts val="400"/>
              </a:spcBef>
              <a:defRPr sz="2400" b="1">
                <a:solidFill>
                  <a:srgbClr val="F8FAFC"/>
                </a:solidFill>
              </a:defRPr>
            </a:pPr>
            <a:r>
              <a:t>8. Conclusion, Ethics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E676"/>
                </a:solidFill>
              </a:defRPr>
            </a:pPr>
            <a:r>
              <a:t>Key Project Achievements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Full Report Alignment: Delivered complete prototype meeting all 8 specification requirements from the Major Project Report.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Leakage-Free Modeling: Rigorous chronological match splitting with out-of-time evaluation.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Superiority Established: Random Forest outperforms run-rate baseline by 6.03 runs MAE overall (and by 14.3 runs in Powerplay).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Responsible Sports AI: Rigorously excluded betting, gambling, and fantasy speculation.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22C20"/>
          </a:solidFill>
          <a:ln w="15240">
            <a:solidFill>
              <a:srgbClr val="184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Future Roadmap (Report Chapter 8)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Live Push Ingestion: WebSocket integration with licensed match scorecard APIs (Report Sec 8.5).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Player-Level Impact Indices: Dynamic strike rate tracking for current batters at the crease.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Physical Pitch Telemetry: Sourcing pitch hardness and soil moisture telemetry from stadium groundstaff (Sec 8.7).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Periodic Model Retraining: Managing temporal distribution drift following ICC tournaments (Sec 8.8).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